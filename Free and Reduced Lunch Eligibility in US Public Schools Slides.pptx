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Montserrat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elma Yilma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Montserrat-bold.fntdata"/><Relationship Id="rId27" Type="http://schemas.openxmlformats.org/officeDocument/2006/relationships/font" Target="fonts/Montserra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0-30T22:02:16.027">
    <p:pos x="2587" y="2162"/>
    <p:text>Read slides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d54d3879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d54d3879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a4538290a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a4538290a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cd54d3879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0cd54d3879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0cd54d387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0cd54d387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0d03d52ea4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0d03d52ea4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0d03d52ea4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0d03d52ea4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arasmai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0d03d52ea4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0d03d52ea4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a4538290a2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a4538290a2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0d03d52ea4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0d03d52ea4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arasmai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0d03d52ea4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0d03d52ea4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a4538290a2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a4538290a2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0e584592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0e584592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0d03d52ea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0d03d52ea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a4538290a2_2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a4538290a2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0d03d52ea4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0d03d52ea4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0d03d52ea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0d03d52ea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a4538290a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a4538290a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lucas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0d03d52ea4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0d03d52ea4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a4538290a2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a4538290a2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4.png"/><Relationship Id="rId6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Relationship Id="rId6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Relationship Id="rId6" Type="http://schemas.openxmlformats.org/officeDocument/2006/relationships/image" Target="../media/image2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392700" y="775600"/>
            <a:ext cx="5250000" cy="25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</a:t>
            </a:r>
            <a:r>
              <a:rPr lang="en"/>
              <a:t>Free and Reduced Lunch Eligibility in US Public Schools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107625" y="343307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Parasmai Salunkhe</a:t>
            </a:r>
            <a:r>
              <a:rPr lang="en"/>
              <a:t>, Lucas Libelo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Period 3, Dr. Yilmaz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406100" y="4092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624525" y="1040100"/>
            <a:ext cx="8158200" cy="22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29908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Contains 101390 instances, dimensions </a:t>
            </a:r>
            <a:r>
              <a:rPr lang="en" sz="1200"/>
              <a:t>74</a:t>
            </a:r>
            <a:endParaRPr sz="1200"/>
          </a:p>
          <a:p>
            <a:pPr indent="-29908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 administrative and fiscal data about all public schools, school districts, and state education agencies in the United States</a:t>
            </a:r>
            <a:endParaRPr sz="1200"/>
          </a:p>
          <a:p>
            <a:pPr indent="-29908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Contains special values : -1 or M indicates missing values and -2 or N indicates the data is not applicable. -9 indicates that the data does not meet NCES standards.</a:t>
            </a:r>
            <a:endParaRPr sz="1200"/>
          </a:p>
          <a:p>
            <a:pPr indent="-29908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Heavily skewed due to the right</a:t>
            </a:r>
            <a:endParaRPr sz="1200"/>
          </a:p>
          <a:p>
            <a:pPr indent="-299085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200"/>
              <a:t>USDA income eligibility</a:t>
            </a:r>
            <a:endParaRPr sz="1200"/>
          </a:p>
        </p:txBody>
      </p:sp>
      <p:pic>
        <p:nvPicPr>
          <p:cNvPr id="142" name="Google Shape;142;p14"/>
          <p:cNvPicPr preferRelativeResize="0"/>
          <p:nvPr/>
        </p:nvPicPr>
        <p:blipFill rotWithShape="1">
          <a:blip r:embed="rId3">
            <a:alphaModFix/>
          </a:blip>
          <a:srcRect b="730" l="6208" r="0" t="52148"/>
          <a:stretch/>
        </p:blipFill>
        <p:spPr>
          <a:xfrm>
            <a:off x="1673575" y="3451450"/>
            <a:ext cx="5372100" cy="160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of Classification</a:t>
            </a:r>
            <a:endParaRPr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Aid in the allocation of financial and dietary resources to schools who need them most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Predict the number of students that are eligible for free and reduced-price lunch.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Class attribute (TOTFRL)  which has the number of students on a reduced lunch program) is numeric and discrete.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Split class data into two groups: low (below average) and high (above average)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646500" y="1140325"/>
            <a:ext cx="7482300" cy="37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removed all instances with missing class labels, leaving us with a total of 86,637 instances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 used Weka’s remove SubsetByExpression with the expression “not ismissing(ATT#)” to remove attributes with missing class labels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Removed unnecessary attributes: OBJECTID, NCESSCH, SURVYEAR, STABR, LEAID, ST_LEAID, LEA_NAME, SCH_NAME, LSTREET1, LSTREET2, PHONE, LATCOD, and LONCOD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Removed all attributes that had missing values greater than 45% (PK, KG, G01-G13, AE, GSLO, GSHI, LZIP4, DIRECTCERT,  and UG)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Three special values: (-1 missing, -2 or N not applicable, -9 didn’t meet surveyor requirements)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Removed with google sheets using replace tool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Treated as missing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</a:t>
            </a:r>
            <a:r>
              <a:rPr lang="en"/>
              <a:t>Preprocessing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770100" y="1567550"/>
            <a:ext cx="7566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Class Data (TOTFRL) </a:t>
            </a:r>
            <a:r>
              <a:rPr lang="en" sz="1200"/>
              <a:t>discrete</a:t>
            </a:r>
            <a:r>
              <a:rPr lang="en" sz="1200"/>
              <a:t> and numeric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split the class data into two groups: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-low, meaning that the number of students eligible for free or reduced-price lunch is below average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high, meaning that the number of students eligible for free or reduced-price lunch is above average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Weka’s discretize filter with equal frequency binning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Pre-Training</a:t>
            </a:r>
            <a:endParaRPr/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623675" y="1567550"/>
            <a:ext cx="37743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Memory Constraint because Dataset too </a:t>
            </a:r>
            <a:r>
              <a:rPr lang="en" sz="1200"/>
              <a:t>large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nature of our class labels (high being above average and low being below average) lead to a perfect 50/50 split of instances among these two possible labels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simple random sampling to produce a sample with a distribution of classes that is equal to the distribution of the original dataset</a:t>
            </a:r>
            <a:endParaRPr sz="1200"/>
          </a:p>
        </p:txBody>
      </p:sp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1725" l="802" r="1282" t="1328"/>
          <a:stretch/>
        </p:blipFill>
        <p:spPr>
          <a:xfrm>
            <a:off x="4640000" y="1475675"/>
            <a:ext cx="3976375" cy="246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Train/Test split</a:t>
            </a:r>
            <a:endParaRPr/>
          </a:p>
        </p:txBody>
      </p:sp>
      <p:sp>
        <p:nvSpPr>
          <p:cNvPr id="173" name="Google Shape;173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70% of the data as a training set,  30% of the data as a test set.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 split this test set in two, using 15% of our dataset as a validation set, and using another 15% of our dataset (the other half of the test set) as a final test set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Used Weka’s RemovePercentage filter to split the dataset into training and testing sets and to split the testing set into testing and validation sets.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We ensured that the split datasets did not overlap by using each percentage once with and once without the InvertSelection field as true.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Attribute Selection - Correlation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457500" y="1498500"/>
            <a:ext cx="3399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used Weka’s correlation attribute evaluator with the ranker search method. The results were as follows. We used a cutoff value of 0.2; 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attributes we removed were: SCHOOL_TYPE_TEXT, HPALM, HP, WHALM, WH, HPALF, WHALF, CHARTER_TEXT, AS_, ASALM, ASALF, ULOCALE, STUTERATIO, SY_STATUS_TEXT, LSTATE, STATUS, AMALM, AM, AMALF, VIRTUAL, SCHOOL_LEVEL, LZIP, NMCNTY, and LCITY. </a:t>
            </a:r>
            <a:endParaRPr/>
          </a:p>
          <a:p>
            <a:pPr indent="-29876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attributes with a correlation greater than 0.2 were: MEMBER, TOTAL, TOTMENROL, TOTFENROL, FTE, HI, HIALM, HIALF, BLALM, BL, BLALF, TR, TRALF, and TRALM.</a:t>
            </a:r>
            <a:endParaRPr/>
          </a:p>
        </p:txBody>
      </p:sp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450" y="1275700"/>
            <a:ext cx="4751751" cy="297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 Gain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457500" y="1498500"/>
            <a:ext cx="33996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used Weka’s info gain attribute evaluator with the ranker search method.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used a cutoff value of 0.2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attributes we removed were: LSTATE, LZIP, ULOCALE, TR, STUTERATIO, TRALF, TRALM, AS_, HP, ASALM, ASALF, HPALM, HPALF, AM, AMALM, SCHOOL_TYPE_TEXT, WH, WHALM, WHALF, AMALF, SCHOOL_LEVEL, CHARTER_TEXT, VIRTUAL, SY_STATUS_TEXT, and STATUS.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attributes with an info gain greater than 0.2 were: LCITY, MEMBER, TOTAL, TOTMENROL, TOTFENROL, NMCNTY, HI, HIALF, HIALM, FTE, BL, BLALF, and BLALM. </a:t>
            </a:r>
            <a:endParaRPr/>
          </a:p>
          <a:p>
            <a:pPr indent="-28638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Infogain is a measure of how well a variable reduces the entropy of another variable, calculated by the equation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InfoGain(Class, Attribute) = H(Class) - H(Class | Attribute).</a:t>
            </a:r>
            <a:endParaRPr/>
          </a:p>
        </p:txBody>
      </p:sp>
      <p:pic>
        <p:nvPicPr>
          <p:cNvPr id="187" name="Google Shape;1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875" y="1346622"/>
            <a:ext cx="4754626" cy="29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Symmetrical Uncertainty</a:t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566125" y="1567550"/>
            <a:ext cx="34635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used a cutoff value of 0.1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 the attributes removed were: NMCNTY, LZIP, STUTERATIO, SCHOOL_TYPE_TEXT, TRALF, TRALM, TR, LSTATE, HP, HPALM, AS_, ASALM, ULOCALE, ASALF, HPALF, AM, AMALM, WH, WHALM, AMALF, AMALF, WHALF, CHARTER_TEXT, SCHOOL_LEVEL, VIRTUAL, SY_STATUS_TEXT, and STATUS.</a:t>
            </a: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attributes with a symmetrical uncertainty value greater than 0.1 were: MEMBER, TOTAL, TOTFENROL, TOTMENROL, HIALF, HI, HIALM, FTE, BL, BLALF, BLALM,  and LCITY.</a:t>
            </a:r>
            <a:endParaRPr/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400" y="1429625"/>
            <a:ext cx="4419600" cy="2769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Cfs Subset</a:t>
            </a:r>
            <a:endParaRPr/>
          </a:p>
        </p:txBody>
      </p:sp>
      <p:sp>
        <p:nvSpPr>
          <p:cNvPr id="200" name="Google Shape;200;p23"/>
          <p:cNvSpPr txBox="1"/>
          <p:nvPr>
            <p:ph idx="1" type="body"/>
          </p:nvPr>
        </p:nvSpPr>
        <p:spPr>
          <a:xfrm>
            <a:off x="814225" y="1222325"/>
            <a:ext cx="3986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Attributes kept: SCHOOL_TYPE_TEXT, TOTMENROL, TOTFENROL, TOTAL, MEMBER, FTE, STUTERATIO, BLALM, BLALF, BL, HIALM, HIALF, and HI.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CfsSubsetAttributeEval evaluates attributes by how correlated they are with the class, while also attempting to avoid selecting attributes highly correlated with each other</a:t>
            </a:r>
            <a:endParaRPr/>
          </a:p>
        </p:txBody>
      </p:sp>
      <p:pic>
        <p:nvPicPr>
          <p:cNvPr id="201" name="Google Shape;20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725" y="1418125"/>
            <a:ext cx="3861059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Intuition</a:t>
            </a:r>
            <a:endParaRPr/>
          </a:p>
        </p:txBody>
      </p:sp>
      <p:sp>
        <p:nvSpPr>
          <p:cNvPr id="207" name="Google Shape;207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</a:t>
            </a:r>
            <a:r>
              <a:rPr lang="en"/>
              <a:t>sing our intuition. We considered how heavily we thought attributes might be related to the class.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Picked the following attributes: LSTATE, LZIP, SCHOOL_LEVEL, ULOCALE, NMCITY, TOTAL, STUTERATIO, AM, AS_, BL, HP, HI, TR, and WH.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All other attributes were removed.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213" name="Google Shape;213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NaiveBayes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Probability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Assumes all attributes are independent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J48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Weka C4.5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Information entropy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For each attribute a, find normalised info gain ratio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Create a node that splits based on attribute with highest info gain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Recur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1R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Single rule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Random Tree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Decision tree </a:t>
            </a:r>
            <a:r>
              <a:rPr lang="en" sz="1200"/>
              <a:t>with k randomly chosen attributes at each node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- CorrelationAttributeEval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1221300" y="9579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Naive Bayes</a:t>
            </a:r>
            <a:r>
              <a:rPr lang="en"/>
              <a:t> : Training accuracy was ~81%, validation accuracy was ~79%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J48: Training accuracy was ~88%, validation accuracy was ~84%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1R: Training accuracy was ~79%, validation accuracy was ~74%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Tree: Training accuracy was ~100%, validation accuracy was ~80%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000" y="2009553"/>
            <a:ext cx="3143125" cy="14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9825" y="2039075"/>
            <a:ext cx="3078414" cy="140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7500" y="3596475"/>
            <a:ext cx="3143125" cy="1445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9950" y="3670597"/>
            <a:ext cx="2840607" cy="129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- Info Gain</a:t>
            </a:r>
            <a:endParaRPr/>
          </a:p>
        </p:txBody>
      </p:sp>
      <p:sp>
        <p:nvSpPr>
          <p:cNvPr id="229" name="Google Shape;229;p27"/>
          <p:cNvSpPr txBox="1"/>
          <p:nvPr>
            <p:ph idx="1" type="body"/>
          </p:nvPr>
        </p:nvSpPr>
        <p:spPr>
          <a:xfrm>
            <a:off x="1297500" y="923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NaiveBayes: Training accuracy was ~82%, validation accuracy was ~80%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J48: Training accuracy was ~82%, validation accuracy was ~82%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1R: Training accuracy was ~86%, validation accuracy was ~63%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Tree:Training accuracy was ~100%, validation accuracy was ~76%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275" y="1956775"/>
            <a:ext cx="3399501" cy="1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3075" y="1956775"/>
            <a:ext cx="3399501" cy="155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75" y="3564200"/>
            <a:ext cx="3490225" cy="157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21605" y="3635763"/>
            <a:ext cx="3200621" cy="143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- </a:t>
            </a:r>
            <a:r>
              <a:rPr lang="en"/>
              <a:t>SymmetricalUncertAttributeEval</a:t>
            </a: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1297500" y="923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NaiveBayes: Training accuracy was ~81%, validation accuracy was ~80%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J48: Training accuracy was ~83%, validation accuracy was ~82%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1R: Training accuracy was ~86%, validation accuracy was ~64%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Tree:Training accuracy was ~100%, validation accuracy was ~75%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300" y="1959050"/>
            <a:ext cx="3142539" cy="14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8050" y="1959048"/>
            <a:ext cx="3299895" cy="15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5450" y="3587025"/>
            <a:ext cx="3288262" cy="150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5400" y="3587025"/>
            <a:ext cx="3142550" cy="1430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- </a:t>
            </a:r>
            <a:r>
              <a:rPr lang="en"/>
              <a:t>CfsSubsetAttributeEval</a:t>
            </a:r>
            <a:endParaRPr/>
          </a:p>
        </p:txBody>
      </p:sp>
      <p:sp>
        <p:nvSpPr>
          <p:cNvPr id="249" name="Google Shape;249;p29"/>
          <p:cNvSpPr txBox="1"/>
          <p:nvPr>
            <p:ph idx="1" type="body"/>
          </p:nvPr>
        </p:nvSpPr>
        <p:spPr>
          <a:xfrm>
            <a:off x="1297500" y="946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NaiveBayes: Training accuracy was ~81%, validation accuracy was ~80%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J48: Training accuracy was 88%, validation accuracy was ~84%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1R: Training accuracy was ~79%, validation accuracy was ~74%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Tree: Training accuracy was ~100%, validation accuracy was ~80%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0" name="Google Shape;25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675" y="2092925"/>
            <a:ext cx="3142539" cy="14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9975" y="2038350"/>
            <a:ext cx="3076850" cy="1420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534" y="3584275"/>
            <a:ext cx="3076832" cy="141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87725" y="3566575"/>
            <a:ext cx="3142550" cy="1415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- Intuition</a:t>
            </a:r>
            <a:endParaRPr/>
          </a:p>
        </p:txBody>
      </p:sp>
      <p:sp>
        <p:nvSpPr>
          <p:cNvPr id="259" name="Google Shape;259;p30"/>
          <p:cNvSpPr txBox="1"/>
          <p:nvPr>
            <p:ph idx="1" type="body"/>
          </p:nvPr>
        </p:nvSpPr>
        <p:spPr>
          <a:xfrm>
            <a:off x="1297500" y="9461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NaiveBayes: Training accuracy was ~80%, validation accuracy was ~80%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J48: Training accuracy was 84%, validation accuracy was ~84%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1R: Training accuracy was ~79%, validation accuracy was ~74%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Tree: Training accuracy was ~100%, validation accuracy was ~75%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50" y="1963875"/>
            <a:ext cx="3442942" cy="15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8400" y="1963875"/>
            <a:ext cx="3442976" cy="156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0950" y="3576519"/>
            <a:ext cx="3442950" cy="156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02337" y="3576525"/>
            <a:ext cx="3455113" cy="15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1297500" y="10826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Random Trees can be seen overfitting (100% on training data, then worse from other models on testing)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Model in terms of </a:t>
            </a:r>
            <a:r>
              <a:rPr lang="en"/>
              <a:t>accuracy </a:t>
            </a:r>
            <a:r>
              <a:rPr lang="en"/>
              <a:t> on testing and training was J48 in Intuition, CfsSubsetAttributeEval, and  CorrelationAttributeEval and 1R in SymmetricalUncertAttributeEval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J48 better </a:t>
            </a:r>
            <a:r>
              <a:rPr lang="en"/>
              <a:t>perform</a:t>
            </a:r>
            <a:r>
              <a:rPr lang="en"/>
              <a:t> than 1R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Model in terms of ROC area is CfsSubsetAttributeEval with NaiveBayes </a:t>
            </a:r>
            <a:r>
              <a:rPr lang="en"/>
              <a:t>with</a:t>
            </a:r>
            <a:r>
              <a:rPr lang="en"/>
              <a:t> value of 0.921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Best Model in terms of F-score is J48 in both CorrelationAttributeEval and </a:t>
            </a:r>
            <a:r>
              <a:rPr lang="en"/>
              <a:t>CfsSubsetAttributeEval with value of 0.84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1297500" y="1567550"/>
            <a:ext cx="7038900" cy="27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Issues: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Dataset was originally too large to </a:t>
            </a:r>
            <a:r>
              <a:rPr lang="en"/>
              <a:t>just run classifying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Lots of missing values in our attributes, reducing the amount of data availabe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Unable to run PCA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Areas for improvement: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Running more classification models to get a better understanding of our </a:t>
            </a:r>
            <a:r>
              <a:rPr lang="en"/>
              <a:t>attributes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Training </a:t>
            </a:r>
            <a:r>
              <a:rPr lang="en"/>
              <a:t>accuracy</a:t>
            </a:r>
            <a:r>
              <a:rPr lang="en"/>
              <a:t> can be improved by increasing representation of all of our different attributes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Discretize data into more categories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